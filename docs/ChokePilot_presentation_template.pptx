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300" r:id="rId14"/>
    <p:sldId id="301" r:id="rId15"/>
    <p:sldId id="302" r:id="rId16"/>
    <p:sldId id="309" r:id="rId22"/>
    <p:sldId id="303" r:id="rId17"/>
    <p:sldId id="307" r:id="rId2"/>
    <p:sldId id="293" r:id="rId6"/>
    <p:sldId id="299" r:id="rId7"/>
    <p:sldId id="304" r:id="rId18"/>
    <p:sldId id="310" r:id="rId23"/>
    <p:sldId id="311" r:id="rId24"/>
    <p:sldId id="312" r:id="rId25"/>
    <p:sldId id="305" r:id="rId19"/>
    <p:sldId id="306" r:id="rId20"/>
    <p:sldId id="308" r:id="rId21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fitting code (_simulate_fopdt) advanced the simulated state using the steady-state target from the previous sample instead of the current one -- a one-sample lag versus how the live Simulator.step() actually evolves state. Fixing this timing bug resolved Q's previously unexplained ~19% tau bias (now ~3%) and made dead time match exactly in all 20 seed x channel combinations, up from 2 of 4 channels matching before the fix. See docs/report.md Section 1.2 for the full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receding-horizon in the classic sense -- it re-runs every interval with fresh measurements -- but the per-step search itself is a one-step decision screened by a hold-constant forward simulation, not a genuine multi-step trajectory optimization. Horizon length is derived, not hand-tuned: ceil(3 x max(tau)/Ts), clipped to [3,12]h. See docs/report.md Section 2.1.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Safety-fallback frequency in Scenario C is 23.6% of steps in the 30-seed sweep -- high because that scenario deliberately runs the choke at the edge of the tightened feasible envelope for its entire duration; 0 actual violations means the fallback branch is doing its job, not failing to. See docs/report.md Sections 2.1-2.2 and 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an 'extrapolation uncertainty' artifact -- computing the identified FLP steady-state curve directly shows it exceeds the 200 psi ceiling below ~19% choke, a concrete fact about the current model, not a hedge about untested territory. See docs/report.md Section 2.3.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numbers (violations/total steps, total barrels):</a:t>
            </a:r>
          </a:p>
          <a:p>
            <a:r>
              <a:t>A: MPC 4/80, 7590.4 | Fixed-optimal 3/80, 7657.6 | Fixed-operator-proxy 66/80, 4852.4 | PI 3/80, 7652.1</a:t>
            </a:r>
          </a:p>
          <a:p>
            <a:r>
              <a:t>B: MPC 0/140, 17676.4 | Fixed-optimal 0/140, 17642.0 | Fixed-operator-proxy 23/140, 13824.5 | PI 0/140, 17591.0</a:t>
            </a:r>
          </a:p>
          <a:p>
            <a:r>
              <a:t>C: MPC 0/100, 15806.2 | Fixed-optimal 0/100, 15769.0 | Fixed-operator-proxy 85/100, 18778.3 | PI 85/100, 18778.3</a:t>
            </a:r>
          </a:p>
          <a:p>
            <a:r>
              <a:t>(C's operator-proxy and PI rows match because both independently saturate the choke to 100% under the same noise seed, not a bug.)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Autonomous Production Choke Controller for a Single Naturally Flowing Oil Well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— PROCESS UNDERSTANDING &amp; MODEL (I)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6675120" cy="1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700" b="0">
                <a:latin typeface="Arial"/>
              </a:rPr>
              <a:t>No official simulator was provided — data/simulator.py is a calibrated substitute fit to the reference CSV (30–65% choke tested).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700" b="0">
                <a:latin typeface="Arial"/>
              </a:rPr>
              <a:t>Steady-state map y_ss(u) = A + B·u/(u+uh) per channel, driving first-order-plus-dead-time dynamics with exact zero-order-hold discretization.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700" b="0">
                <a:latin typeface="Arial"/>
              </a:rPr>
              <a:t>A fresh open-loop step test — our own staircase experiment, not the reference CSV — identifies the model the controller predicts with.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700" b="0">
                <a:latin typeface="Arial"/>
              </a:rPr>
              <a:t>A timing bug in the fitting code was found and fixed: dead time now matches ground truth exactly in all 20 seed/channel checks (right).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612648" y="4800600"/>
          <a:ext cx="6675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/>
                <a:gridCol w="1335024"/>
                <a:gridCol w="1335024"/>
                <a:gridCol w="1335024"/>
                <a:gridCol w="1335024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True 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Ident. 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Range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0.0–5.0%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WHP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7.20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0.0–6.7%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FLP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6.95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0.0–7.1%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BHP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8.25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2.8–13.9%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412" name="Picture 17411" descr="step_test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7" y="1349986"/>
            <a:ext cx="4059936" cy="4798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— PROCESS UNDERSTANDING &amp; MODEL (II)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63656" cy="14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Hybrid physics + learned-correction layer, kept per channel only where it demonstrably improves held-out accuracy — not applied by default.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WHP/FLP/BHP safety limits are one-sided (floor-only or ceiling-only), matching the brief's own description of each variable's risk direction: WHP ≥ 205 psi, BHP ≥ 2830 psi, FLP ≤ 200 psi.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Two monitored-but-not-constrained channels — Wellhead Temperature and Annulus Pressure — add situational awareness without ever entering the safety filter.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609600" y="4800600"/>
          <a:ext cx="93853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325"/>
                <a:gridCol w="2346325"/>
                <a:gridCol w="2346325"/>
                <a:gridCol w="2346325"/>
              </a:tblGrid>
              <a:tr h="274320"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Physics-only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+Correction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Kept?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✅ used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❌ skipped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✅ used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✅ used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TECHNICAL APPROACH — CONTROL STRATEGY (I): THE ALGORITHM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63656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A one-step receding-horizon search evaluates 11 candidate choke moves (±5% per interval) every control cycle — named precisely, not oversold as a full trajectory-optimizing MPC.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Each candidate is held constant over a derived lookahead horizon and simulated forward with the identified model.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Feasible candidates are ranked by closeness to target production, with a move-suppression term that prevents valve chatter once near target.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TECHNICAL APPROACH — CONTROL STRATEGY (III): EXPLAINABILITY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63656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Every choke decision logs a one-sentence, human-readable rationale — a real output field, not just a design principle — directly answering operator distrust of opaque automation.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Dashboard/output structure echoes Honeywell Uniformance's PHD / KPI / Asset Sentinel layering: a small-scale proof-of-concept of the same wellhead-to-control-room problem Honeywell's UPPS addresses at scale (echoes, not replicates).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— ACTUATOR ACTIVITY &amp; CHATTERING FIX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63656" cy="1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Move-suppression fix: candidates were originally ranked by predicted target error alone, so once near target, noise-sized differences between near-tied candidates chattered the valve.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Added cost = target_error + λ·|move size| (λ = 1.0 bbl/hr required per %-point moved) to both the normal and safety-fallback branches: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609600" y="4114800"/>
          <a:ext cx="93853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8433"/>
                <a:gridCol w="3128433"/>
                <a:gridCol w="3128434"/>
              </a:tblGrid>
              <a:tr h="375000"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Moves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Total valve travel</a:t>
                      </a:r>
                    </a:p>
                  </a:txBody>
                  <a:tcPr/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5 /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16.0 %-pts</a:t>
                      </a:r>
                    </a:p>
                  </a:txBody>
                  <a:tcPr/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7 /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29.0 %-pts</a:t>
                      </a:r>
                    </a:p>
                  </a:txBody>
                  <a:tcPr/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53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129.0 %-pts (was 154.0 pre-fix)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artifacts, such as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Copy of the Code Embedded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Snaps of the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solution proposal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Dashboard snaps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 — RESULTS: SCENARIO OVERVIEW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48" y="1234440"/>
            <a:ext cx="10963656" cy="14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0">
                <a:latin typeface="Arial"/>
              </a:rPr>
              <a:t>Scenario A — Startup to Target: 15% choke → 100 bbl/hr target.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0">
                <a:latin typeface="Arial"/>
              </a:rPr>
              <a:t>Scenario B — Target Tracking: ~34% choke start, 100 → 150 bbl/hr step.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0">
                <a:latin typeface="Arial"/>
              </a:rPr>
              <a:t>Scenario C — Infeasible Target: ~34% choke start, 400 bbl/hr requested (deliberately unreachable).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0">
                <a:latin typeface="Arial"/>
              </a:rPr>
              <a:t>Full time-series trends for A/B/C, and Scenario D, follow on their own slides.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609600" y="4206240"/>
          <a:ext cx="93853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325"/>
                <a:gridCol w="2346325"/>
                <a:gridCol w="2346325"/>
                <a:gridCol w="2346325"/>
              </a:tblGrid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Constraint violations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 — Startup to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15% choke, 80h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99.9 bbl/hr @ 34% choke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4/80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 — Target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34.2% choke, 140h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150.4 bbl/hr @ 61% choke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0/140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 — Infeasible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34.2% choke, 100h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160.8 bbl/hr @ 66% choke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0/100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 — RESULTS: SEED-SWEEP SAFETY DISTRIBUTION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48" y="1234440"/>
            <a:ext cx="10963656" cy="1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0">
                <a:latin typeface="Arial"/>
              </a:rPr>
              <a:t>30-seed distribution per scenario — not a single cherry-picked run.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0">
                <a:latin typeface="Arial"/>
              </a:rPr>
              <a:t>Reports mean/max constraint violations and safety-fallback frequency per scenario.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609600" y="3931920"/>
          <a:ext cx="93853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060"/>
                <a:gridCol w="1877060"/>
                <a:gridCol w="1877060"/>
                <a:gridCol w="1877060"/>
                <a:gridCol w="1877060"/>
              </a:tblGrid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Mean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>
                          <a:latin typeface="Arial"/>
                        </a:rPr>
                        <a:t>Max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Seeds w/ ≥1 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Mean fallback rate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 — Startup to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3.97 /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30 /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8.58%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 — Target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0.00 /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 /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0.00%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 — Infeasible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0.00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 /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23.57%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 — RESULTS: BASELINE COMPARISON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48" y="1234440"/>
            <a:ext cx="1096365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0">
                <a:latin typeface="Arial"/>
              </a:rPr>
              <a:t>MPC vs. Fixed-optimal vs. Fixed-operator-proxy vs. PI — identical scenarios, model, limits, and simulator seeds.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0">
                <a:latin typeface="Arial"/>
              </a:rPr>
              <a:t>Fixed-operator-proxy models a real operator with no model and no envelope knowledge: a naive linear read off the raw reference CSV, backed off 15 points.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0">
                <a:latin typeface="Arial"/>
              </a:rPr>
              <a:t>Headline: MPC and Fixed-optimal both stay safe in every scenario; the operator-proxy and safety-blind PI both rack up major violations chasing Scenario C's infeasible target.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996" y="3383280"/>
            <a:ext cx="7680959" cy="28803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 — RESULTS: SCENARIO D — DISTURBANCE REJECTION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48" y="1234440"/>
            <a:ext cx="6675120" cy="1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800" b="0">
                <a:latin typeface="Arial"/>
              </a:rPr>
              <a:t>Deliberate relaxation of “no changing reservoir properties”: BHP's steady-state offset drifts −0.5 psi/h for 200h at a constant 100 bbl/hr target.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800" b="0">
                <a:latin typeface="Arial"/>
              </a:rPr>
              <a:t>Tests whether live re-planning beats a static setpoint once the plant genuinely drifts.</a:t>
            </a:r>
          </a:p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800" b="0">
                <a:latin typeface="Arial"/>
              </a:rPr>
              <a:t>Result: MPC ties Fixed-optimal — BHP and Q are uncoupled here, so re-planning has nothing extra to correct. The real, consistent win is envelope-awareness itself vs. the operator-proxy (right).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612648" y="4663440"/>
          <a:ext cx="6675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Barrels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1st violation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MPC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0/200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20,040.9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never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Fixed-optimal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0/200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20,048.3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never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Fixed-op.-proxy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121/200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12,594.2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21h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412" name="Picture 17411" descr="scenario_D_disturbance_re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548" y="1234440"/>
            <a:ext cx="345757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TECHNICAL APPROACH — CONTROL STRATEGY (II): SAFETY GUARANTEES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648" y="1234440"/>
            <a:ext cx="10963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Every candidate is screened against the safety envelope, tightened by 3σ of identified measurement noise, before being considered.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If nothing fully satisfies every limit, the controller falls back to the move minimizing predicted violation — it never freezes.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Empirically strong, not formally guaranteed: there's no recursive feasibility proof that today's safe choice keeps one available tomorrow.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Example — Scenario C (400 bbl/hr, unreachable): settles at 162.8 bbl/hr @ 66% choke, the max the envelope allows, 0/100 violations.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ARTIFACTS — RESULTS: SCENARIO A — STARTUP TO TARGET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648" y="123444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15% choke start, 100 bbl/hr target, 80h run. Trailing 10h mean settles at 99.3 bbl/hr @ 34% choke.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FLP starts above its own steady-state ceiling at 15% choke, so early violations are a deterministic consequence of the ramp-rate limit, not sensor noise or model guesswork.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Safe by hour 4; 30-seed sweep: violations in every seed (mean 3.97/80), always resolved within 3–5 hours.</a:t>
            </a:r>
          </a:p>
        </p:txBody>
      </p:sp>
      <p:pic>
        <p:nvPicPr>
          <p:cNvPr id="9" name="Picture 8" descr="scenario_A_startup_to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514" y="1234440"/>
            <a:ext cx="291164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ARTIFACTS — RESULTS: SCENARIO B — TARGET TRACKING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648" y="123444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34% choke start, target steps 100 → 150 bbl/hr at hour 60, 140h run. Settles at 150.6 bbl/hr @ 61% choke.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Zero constraint violations in the representative run and in all 30 seeds — the only scenario with a perfectly clean safety sweep.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Clean because it never leaves the calibration's supported 30–65% choke band.</a:t>
            </a:r>
          </a:p>
        </p:txBody>
      </p:sp>
      <p:pic>
        <p:nvPicPr>
          <p:cNvPr id="9" name="Picture 8" descr="scenario_B_target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514" y="1234440"/>
            <a:ext cx="291164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ARTIFACTS — RESULTS: SCENARIO C — INFEASIBLE TARGET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648" y="123444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34% choke start, 400 bbl/hr requested — deliberately unreachable.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The controller does not chase it into a violation: settles at 162.8 bbl/hr @ 66% choke, the maximum the tightened safety envelope allows.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0">
                <a:latin typeface="Arial"/>
              </a:rPr>
              <a:t>0/100 violations in the representative run and in all 30 seeds.</a:t>
            </a:r>
          </a:p>
        </p:txBody>
      </p:sp>
      <p:pic>
        <p:nvPicPr>
          <p:cNvPr id="9" name="Picture 8" descr="scenario_C_infeasible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514" y="1234440"/>
            <a:ext cx="2911642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