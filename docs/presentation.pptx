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ChokePilot — Autonomous Choke Controller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Honeywell Campus Connect Hackathon (PS3)</a:t>
            </a:r>
          </a:p>
          <a:p>
            <a:pPr lvl="0" indent="0" marL="0">
              <a:buNone/>
            </a:pPr>
            <a:r>
              <a:rPr/>
              <a:t>Speaker notes are in </a:t>
            </a:r>
            <a:r>
              <a:rPr i="1"/>
              <a:t>italics</a:t>
            </a:r>
            <a:r>
              <a:rPr/>
              <a:t> under each slide. Numbers below are pulled from one fresh run of </a:t>
            </a:r>
            <a:r>
              <a:rPr>
                <a:latin typeface="Courier"/>
              </a:rPr>
              <a:t>identify.py</a:t>
            </a:r>
            <a:r>
              <a:rPr/>
              <a:t> → </a:t>
            </a:r>
            <a:r>
              <a:rPr>
                <a:latin typeface="Courier"/>
              </a:rPr>
              <a:t>verify_identification.py</a:t>
            </a:r>
            <a:r>
              <a:rPr/>
              <a:t> → </a:t>
            </a:r>
            <a:r>
              <a:rPr>
                <a:latin typeface="Courier"/>
              </a:rPr>
              <a:t>scenarios.py</a:t>
            </a:r>
            <a:r>
              <a:rPr/>
              <a:t> → </a:t>
            </a:r>
            <a:r>
              <a:rPr>
                <a:latin typeface="Courier"/>
              </a:rPr>
              <a:t>baselines.py</a:t>
            </a:r>
            <a:r>
              <a:rPr/>
              <a:t> → </a:t>
            </a:r>
            <a:r>
              <a:rPr>
                <a:latin typeface="Courier"/>
              </a:rPr>
              <a:t>seed_sweep.py</a:t>
            </a:r>
            <a:r>
              <a:rPr/>
              <a:t> → </a:t>
            </a:r>
            <a:r>
              <a:rPr>
                <a:latin typeface="Courier"/>
              </a:rPr>
              <a:t>scenario_d.py</a:t>
            </a:r>
            <a:r>
              <a:rPr/>
              <a:t>, cross-checked against </a:t>
            </a:r>
            <a:r>
              <a:rPr>
                <a:latin typeface="Courier"/>
              </a:rPr>
              <a:t>docs/report.md</a:t>
            </a:r>
            <a:r>
              <a:rPr/>
              <a:t> — “§N” references point back there for the full derivation.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1 — Process Understanding &amp; 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 — The Problem</a:t>
            </a:r>
          </a:p>
          <a:p>
            <a:pPr lvl="0" indent="0" marL="0">
              <a:buNone/>
            </a:pPr>
            <a:r>
              <a:rPr/>
              <a:t>Operators and engineers don’t under-perform because the physics is hard — they under-perform because of five well-documented, unglamorous frictions:</a:t>
            </a:r>
          </a:p>
          <a:p>
            <a:pPr lvl="0" indent="-342900" marL="342900">
              <a:buAutoNum type="arabicPeriod"/>
            </a:pPr>
            <a:r>
              <a:rPr b="1"/>
              <a:t>Operators “baby” the choke</a:t>
            </a:r>
            <a:r>
              <a:rPr/>
              <a:t> — fear of sand/formation damage leaves real production capacity unused. </a:t>
            </a:r>
            <a:r>
              <a:rPr i="1"/>
              <a:t>(Eng-Tips forum discussion)</a:t>
            </a:r>
          </a:p>
          <a:p>
            <a:pPr lvl="0" indent="-342900" marL="342900">
              <a:buAutoNum type="arabicPeriod"/>
            </a:pPr>
            <a:r>
              <a:rPr b="1"/>
              <a:t>Too many wells, too little attention</a:t>
            </a:r>
            <a:r>
              <a:rPr/>
              <a:t> — a choke gets set once during a shift and left alone, because nobody has the bandwidth to revisit it continuously. </a:t>
            </a:r>
            <a:r>
              <a:rPr i="1"/>
              <a:t>(patent literature on standard industry practice)</a:t>
            </a:r>
          </a:p>
          <a:p>
            <a:pPr lvl="0" indent="-342900" marL="342900">
              <a:buAutoNum type="arabicPeriod"/>
            </a:pPr>
            <a:r>
              <a:rPr b="1"/>
              <a:t>Slugging is caught reactively</a:t>
            </a:r>
            <a:r>
              <a:rPr/>
              <a:t> — a human notices fluctuations after the fact, not before. </a:t>
            </a:r>
            <a:r>
              <a:rPr i="1"/>
              <a:t>(SPE technical paper)</a:t>
            </a:r>
          </a:p>
          <a:p>
            <a:pPr lvl="0" indent="-342900" marL="342900">
              <a:buAutoNum type="arabicPeriod"/>
            </a:pPr>
            <a:r>
              <a:rPr b="1"/>
              <a:t>APC doesn’t scale upstream because models need a dedicated team</a:t>
            </a:r>
            <a:r>
              <a:rPr/>
              <a:t> — the on-record barrier isn’t algorithmic sophistication, it’s who keeps the model current. </a:t>
            </a:r>
            <a:r>
              <a:rPr i="1"/>
              <a:t>(on-record Honeywell upstream solutions interview)</a:t>
            </a:r>
          </a:p>
          <a:p>
            <a:pPr lvl="0" indent="-342900" marL="342900">
              <a:buAutoNum type="arabicPeriod"/>
            </a:pPr>
            <a:r>
              <a:rPr b="1"/>
              <a:t>Alarm fatigue and distrust of opaque automation</a:t>
            </a:r>
            <a:r>
              <a:rPr/>
              <a:t> — operators override what they don’t understand. </a:t>
            </a:r>
            <a:r>
              <a:rPr i="1"/>
              <a:t>(NTSB SCADA safety review)</a:t>
            </a:r>
          </a:p>
          <a:p>
            <a:pPr lvl="0" indent="0" marL="0">
              <a:buNone/>
            </a:pPr>
            <a:r>
              <a:rPr i="1"/>
              <a:t>ChokePilot answers all five: continuous optimization instead of a “set and forget” choke; a search-based, no-heavy-optimizer controller with a fresh from-scratch identification step instead of a model a dedicated team must maintain; and a logged one-sentence rationale for every move instead of a black box. It’s a small-scale, single-well version of the same closed-loop direction Honeywell’s APC customers are already moving toward on wells — a focused proof-of-concept of the wellhead-to-control-room optimization problem Honeywell’s Upstream Production Performance Suite (UPPS) addresses at scale. It does not claim equivalence; it echoes the same idea at a scale one person can build and verify in a project timeline. (report.md §0)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 — No Official Simulator: What We Built, and What It Can’t Tell Us </a:t>
            </a:r>
            <a:r>
              <a:rPr b="1" i="1"/>
              <a:t>(report.md §1.1)</a:t>
            </a:r>
          </a:p>
          <a:p>
            <a:pPr lvl="0"/>
            <a:r>
              <a:rPr/>
              <a:t>The platform provided no simulator — only </a:t>
            </a:r>
            <a:r>
              <a:rPr>
                <a:latin typeface="Courier"/>
              </a:rPr>
              <a:t>Autonomous_Choke_Control_Simulated_Dataset.csv</a:t>
            </a:r>
            <a:r>
              <a:rPr/>
              <a:t> (120 hr, choke tested 30–65%) and a presentation template.</a:t>
            </a:r>
          </a:p>
          <a:p>
            <a:pPr lvl="0"/>
            <a:r>
              <a:rPr>
                <a:latin typeface="Courier"/>
              </a:rPr>
              <a:t>data/simulator.py</a:t>
            </a:r>
            <a:r>
              <a:rPr/>
              <a:t> is a </a:t>
            </a:r>
            <a:r>
              <a:rPr b="1"/>
              <a:t>calibrated substitute</a:t>
            </a:r>
            <a:r>
              <a:rPr/>
              <a:t>, clearly commented as such, exposing the exact interface the brief specifies: </a:t>
            </a:r>
            <a:r>
              <a:rPr>
                <a:latin typeface="Courier"/>
              </a:rPr>
              <a:t>Q, WHP, FLP, BHP = simulator.step(choke_position)</a:t>
            </a:r>
            <a:r>
              <a:rPr/>
              <a:t>.</a:t>
            </a:r>
          </a:p>
          <a:p>
            <a:pPr lvl="0"/>
            <a:r>
              <a:rPr/>
              <a:t>Steady-state map per channel: </a:t>
            </a:r>
            <a:r>
              <a:rPr>
                <a:latin typeface="Courier"/>
              </a:rPr>
              <a:t>y_ss(u) = A + B·u/(u+uh)</a:t>
            </a:r>
            <a:r>
              <a:rPr/>
              <a:t>; Q is forced through zero at 0% choke (a fully shut choke physically gives zero flow).</a:t>
            </a:r>
          </a:p>
          <a:p>
            <a:pPr lvl="0"/>
            <a:r>
              <a:rPr/>
              <a:t>Dynamics: FOPDT, discretized with the </a:t>
            </a:r>
            <a:r>
              <a:rPr b="1"/>
              <a:t>exact</a:t>
            </a:r>
            <a:r>
              <a:rPr/>
              <a:t> zero-order-hold form </a:t>
            </a:r>
            <a:r>
              <a:rPr>
                <a:latin typeface="Courier"/>
              </a:rPr>
              <a:t>alpha = 1 - exp(-Ts/tau)</a:t>
            </a:r>
            <a:r>
              <a:rPr/>
              <a:t> — not the Euler approximation </a:t>
            </a:r>
            <a:r>
              <a:rPr>
                <a:latin typeface="Courier"/>
              </a:rPr>
              <a:t>Ts/tau</a:t>
            </a:r>
            <a:r>
              <a:rPr/>
              <a:t>, which is only accurate when </a:t>
            </a:r>
            <a:r>
              <a:rPr>
                <a:latin typeface="Courier"/>
              </a:rPr>
              <a:t>Ts ≪ tau</a:t>
            </a:r>
            <a:r>
              <a:rPr/>
              <a:t> and can go unstable outside that regime.</a:t>
            </a:r>
          </a:p>
          <a:p>
            <a:pPr lvl="0"/>
            <a:r>
              <a:rPr/>
              <a:t>The steady-state fit uses </a:t>
            </a:r>
            <a:r>
              <a:rPr b="1"/>
              <a:t>only the last ~6 hours of each dwell period</a:t>
            </a:r>
            <a:r>
              <a:rPr/>
              <a:t> (near-settled samples), not the whole trajectory — fitting on transient-contaminated samples was found to bias the curve and the downstream τ/θ search that compensates for it.</a:t>
            </a:r>
          </a:p>
          <a:p>
            <a:pPr lvl="0" indent="0" marL="0">
              <a:buNone/>
            </a:pPr>
            <a:r>
              <a:rPr b="1"/>
              <a:t>Two honestly-reported findings, not hidden:</a:t>
            </a:r>
            <a:r>
              <a:rPr/>
              <a:t> - With the </a:t>
            </a:r>
            <a:r>
              <a:rPr>
                <a:latin typeface="Courier"/>
              </a:rPr>
              <a:t>uh</a:t>
            </a:r>
            <a:r>
              <a:rPr/>
              <a:t> search grid widened to check for boundary-pinning, </a:t>
            </a:r>
            <a:r>
              <a:rPr b="1"/>
              <a:t>WHP, FLP, and BHP all pin at the widened boundary</a:t>
            </a:r>
            <a:r>
              <a:rPr/>
              <a:t> — their steady-state response is statistically indistinguishable from linear over the tested 30–65% range. Only Q, anchored through zero, genuinely needs the saturating shape. - The reference CSV covers </a:t>
            </a:r>
            <a:r>
              <a:rPr b="1"/>
              <a:t>only 5 distinct choke levels</a:t>
            </a:r>
            <a:r>
              <a:rPr/>
              <a:t>, fit as a single deterministic least-squares point estimate — no confidence interval or uncertainty quantification anywhere in this pipeline.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6764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 — Open-Loop Step Test: What It Actually Tests </a:t>
            </a:r>
            <a:r>
              <a:rPr b="1" i="1"/>
              <a:t>(report.md §1.2)</a:t>
            </a:r>
          </a:p>
          <a:p>
            <a:pPr lvl="0"/>
            <a:r>
              <a:rPr/>
              <a:t>Per the brief, </a:t>
            </a:r>
            <a:r>
              <a:rPr>
                <a:latin typeface="Courier"/>
              </a:rPr>
              <a:t>identify.py</a:t>
            </a:r>
            <a:r>
              <a:rPr/>
              <a:t> runs its </a:t>
            </a:r>
            <a:r>
              <a:rPr b="1"/>
              <a:t>own</a:t>
            </a:r>
            <a:r>
              <a:rPr/>
              <a:t> fresh monotonic staircase (0→100% in 10% steps, 40h dwell) against the calibrated simulator, rather than reusing the reference CSV.</a:t>
            </a:r>
          </a:p>
          <a:p>
            <a:pPr lvl="0"/>
            <a:r>
              <a:rPr b="1"/>
              <a:t>Reframing an earlier claim:</a:t>
            </a:r>
            <a:r>
              <a:rPr/>
              <a:t> </a:t>
            </a:r>
            <a:r>
              <a:rPr>
                <a:latin typeface="Courier"/>
              </a:rPr>
              <a:t>identify.py</a:t>
            </a:r>
            <a:r>
              <a:rPr/>
              <a:t> imports </a:t>
            </a:r>
            <a:r>
              <a:rPr>
                <a:latin typeface="Courier"/>
              </a:rPr>
              <a:t>_fit_fopdt</a:t>
            </a:r>
            <a:r>
              <a:rPr/>
              <a:t> and </a:t>
            </a:r>
            <a:r>
              <a:rPr>
                <a:latin typeface="Courier"/>
              </a:rPr>
              <a:t>_simulate_fopdt</a:t>
            </a:r>
            <a:r>
              <a:rPr/>
              <a:t> directly from </a:t>
            </a:r>
            <a:r>
              <a:rPr>
                <a:latin typeface="Courier"/>
              </a:rPr>
              <a:t>data/simulator.py</a:t>
            </a:r>
            <a:r>
              <a:rPr/>
              <a:t> — the </a:t>
            </a:r>
            <a:r>
              <a:rPr i="1"/>
              <a:t>same</a:t>
            </a:r>
            <a:r>
              <a:rPr/>
              <a:t> private fitting functions used to calibrate the simulator itself. The functional form is shared </a:t>
            </a:r>
            <a:r>
              <a:rPr b="1"/>
              <a:t>by construction</a:t>
            </a:r>
            <a:r>
              <a:rPr/>
              <a:t>. Calling this “treating the simulator as a black box” overstates what’s actually being tested.</a:t>
            </a:r>
          </a:p>
          <a:p>
            <a:pPr lvl="0"/>
            <a:r>
              <a:rPr/>
              <a:t>What it legitimately tests: </a:t>
            </a:r>
            <a:r>
              <a:rPr b="1"/>
              <a:t>parameter identification accuracy under a correctly-specified model.</a:t>
            </a:r>
            <a:r>
              <a:rPr/>
              <a:t> </a:t>
            </a:r>
            <a:r>
              <a:rPr>
                <a:latin typeface="Courier"/>
              </a:rPr>
              <a:t>verify_identification.py</a:t>
            </a:r>
            <a:r>
              <a:rPr/>
              <a:t> compares identified vs. true τ across 5 seeds (0, 1, 2, 7, 99):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997200"/>
          <a:ext cx="822960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651000"/>
                <a:gridCol w="1651000"/>
                <a:gridCol w="1651000"/>
                <a:gridCol w="1651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 τ 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identified τ 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range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0.0–5.0%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0.0–6.7%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0.0–7.1%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BHP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2.8–13.9%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27500"/>
            <a:ext cx="8229600" cy="330200"/>
          </a:xfrm>
        </p:spPr>
        <p:txBody>
          <a:bodyPr/>
          <a:lstStyle/>
          <a:p>
            <a:pPr lvl="0" indent="0" marL="0">
              <a:buNone/>
            </a:pPr>
            <a:r>
              <a:rPr i="1"/>
              <a:t>Dead-time identification now matches the true θ </a:t>
            </a:r>
            <a:r>
              <a:rPr b="1" i="1"/>
              <a:t>exactly in all 20/20 seed×channel combinations</a:t>
            </a:r>
            <a:r>
              <a:rPr i="1"/>
              <a:t> — no residual off-by-one anywhere on this table. BHP is the largest remaining τ residual (8.3%); Slide 4 explains why this table looks different from an earlier draft.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 — Two Fixes That Explain the Identification Error </a:t>
            </a:r>
            <a:r>
              <a:rPr b="1" i="1"/>
              <a:t>(report.md §1.2)</a:t>
            </a:r>
          </a:p>
          <a:p>
            <a:pPr lvl="0" indent="0" marL="0">
              <a:buNone/>
            </a:pPr>
            <a:r>
              <a:rPr i="1"/>
              <a:t>Two separate, sequential, tested-not-hypothesized fixes sit behind Slide 3’s table — worth naming both, since stopping after the first would have missed the second.</a:t>
            </a:r>
          </a:p>
          <a:p>
            <a:pPr lvl="0" indent="0" marL="0">
              <a:buNone/>
            </a:pPr>
            <a:r>
              <a:rPr b="1"/>
              <a:t>Fix 1 — dwell time (</a:t>
            </a:r>
            <a:r>
              <a:rPr b="1">
                <a:latin typeface="Courier"/>
              </a:rPr>
              <a:t>DWELL_HOURS</a:t>
            </a:r>
            <a:r>
              <a:rPr b="1"/>
              <a:t> 24→40).</a:t>
            </a:r>
            <a:r>
              <a:rPr/>
              <a:t> With a 24h dwell, mean τ error was Q 20% / WHP 16% / FLP 27% / BHP 31%, identified τ lower than true τ in </a:t>
            </a:r>
            <a:r>
              <a:rPr b="1"/>
              <a:t>all 20/20</a:t>
            </a:r>
            <a:r>
              <a:rPr/>
              <a:t> seed×channel combinations — a one-directional bias consistent with insufficient settling time. Raising the dwell to 40h confirmed that diagnosis for </a:t>
            </a:r>
            <a:r>
              <a:rPr b="1"/>
              <a:t>three of four channels</a:t>
            </a:r>
            <a:r>
              <a:rPr/>
              <a:t> (WHP 16.0%→4.0%, FLP 27.1%→13.6%, BHP 31.1%→7.8%) and </a:t>
            </a:r>
            <a:r>
              <a:rPr i="1"/>
              <a:t>ruled it out</a:t>
            </a:r>
            <a:r>
              <a:rPr/>
              <a:t> for Q (20.0%→19.0%, unchanged across every dwell length tested, 24–80h) — a genuine open question at that point, not folded into an explanation that didn’t cover it.</a:t>
            </a:r>
          </a:p>
          <a:p>
            <a:pPr lvl="0" indent="0" marL="0">
              <a:buNone/>
            </a:pPr>
            <a:r>
              <a:rPr b="1"/>
              <a:t>Fix 2 — a one-sample lag between the fitting code and the live simulator.</a:t>
            </a:r>
            <a:r>
              <a:rPr/>
              <a:t> </a:t>
            </a:r>
            <a:r>
              <a:rPr>
                <a:latin typeface="Courier"/>
              </a:rPr>
              <a:t>_simulate_fopdt</a:t>
            </a:r>
            <a:r>
              <a:rPr/>
              <a:t> drove </a:t>
            </a:r>
            <a:r>
              <a:rPr>
                <a:latin typeface="Courier"/>
              </a:rPr>
              <a:t>sim[k+1]</a:t>
            </a:r>
            <a:r>
              <a:rPr/>
              <a:t> from </a:t>
            </a:r>
            <a:r>
              <a:rPr>
                <a:latin typeface="Courier"/>
              </a:rPr>
              <a:t>y_ss[k]</a:t>
            </a:r>
            <a:r>
              <a:rPr/>
              <a:t> (i.e. </a:t>
            </a:r>
            <a:r>
              <a:rPr>
                <a:latin typeface="Courier"/>
              </a:rPr>
              <a:t>u[k-θ]</a:t>
            </a:r>
            <a:r>
              <a:rPr/>
              <a:t>), but </a:t>
            </a:r>
            <a:r>
              <a:rPr>
                <a:latin typeface="Courier"/>
              </a:rPr>
              <a:t>Simulator.step()</a:t>
            </a:r>
            <a:r>
              <a:rPr/>
              <a:t> actually drives the arriving sample from </a:t>
            </a:r>
            <a:r>
              <a:rPr>
                <a:latin typeface="Courier"/>
              </a:rPr>
              <a:t>u[t-θ]</a:t>
            </a:r>
            <a:r>
              <a:rPr/>
              <a:t> — the same time index, not one behind. A real structural bug, not a hypothesis, confirmed by tracing both code paths by hand. Fixing it (</a:t>
            </a:r>
            <a:r>
              <a:rPr>
                <a:latin typeface="Courier"/>
              </a:rPr>
              <a:t>y_ss[k]</a:t>
            </a:r>
            <a:r>
              <a:rPr/>
              <a:t> → </a:t>
            </a:r>
            <a:r>
              <a:rPr>
                <a:latin typeface="Courier"/>
              </a:rPr>
              <a:t>y_ss[k+1]</a:t>
            </a:r>
            <a:r>
              <a:rPr/>
              <a:t>) is what </a:t>
            </a:r>
            <a:r>
              <a:rPr b="1"/>
              <a:t>resolved Q’s open question</a:t>
            </a:r>
            <a:r>
              <a:rPr/>
              <a:t>: error dropped 19.0%→3.0%, and θ went from matching exactly for only 2/4 channels to matching exactly for </a:t>
            </a:r>
            <a:r>
              <a:rPr b="1"/>
              <a:t>all 4</a:t>
            </a:r>
            <a:r>
              <a:rPr/>
              <a:t>. It also revealed the simulator’s own “ground-truth” θ values had carried the identical bias, so recalibrating shifted the </a:t>
            </a:r>
            <a:r>
              <a:rPr i="1"/>
              <a:t>true</a:t>
            </a:r>
            <a:r>
              <a:rPr/>
              <a:t> θ by +1 across the board (τ unchanged) — both sides of every earlier comparison had been shifted the same way.</a:t>
            </a:r>
          </a:p>
          <a:p>
            <a:pPr lvl="0" indent="0" marL="0">
              <a:buNone/>
            </a:pPr>
            <a:r>
              <a:rPr i="1"/>
              <a:t>Net effect: BHP is now the largest residual (8.3%), not Q — the direct consequence of Fix 2 landing squarely on Q’s bias.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1049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 — Hybrid Physics + Learned Correction: Three of Four Channels Earn Their Place </a:t>
            </a:r>
            <a:r>
              <a:rPr b="1" i="1"/>
              <a:t>(report.md §1.3)</a:t>
            </a:r>
          </a:p>
          <a:p>
            <a:pPr lvl="0"/>
            <a:r>
              <a:rPr/>
              <a:t>A small degree-1 polynomial-in-choke correction on the physics FOPDT residual, validated on a </a:t>
            </a:r>
            <a:r>
              <a:rPr b="1"/>
              <a:t>held-out</a:t>
            </a:r>
            <a:r>
              <a:rPr/>
              <a:t> step test before being trusted.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425700"/>
          <a:ext cx="8229600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Physics-only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+Correction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Kept?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BHP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used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used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used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skipped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62400"/>
            <a:ext cx="8229600" cy="495300"/>
          </a:xfrm>
        </p:spPr>
        <p:txBody>
          <a:bodyPr/>
          <a:lstStyle/>
          <a:p>
            <a:pPr lvl="0" indent="0" marL="0">
              <a:buNone/>
            </a:pPr>
            <a:r>
              <a:rPr i="1"/>
              <a:t>This table changed shape after Slide 4’s Fix 2: with the old, laggy fit, only BHP’s correction generalized to held-out data. Post-fix, Q, FLP, and BHP all keep a small but consistent held-out improvement; only WHP’s correction makes things very slightly worse on held-out data (1.296→1.304) and is skipped. </a:t>
            </a:r>
            <a:r>
              <a:rPr i="1">
                <a:latin typeface="Courier"/>
              </a:rPr>
              <a:t>select_beneficial_corrections()</a:t>
            </a:r>
            <a:r>
              <a:rPr i="1"/>
              <a:t> makes this call automatically per channel from held-out RMSE alone — nothing hand-picked, which is also why the verdict flipped for three channels without anyone hand-editing it. BHP remains both the largest τ residual (Slide 3) and the largest correction RMSE — plausibly absorbing some of that dynamics mismatch; this pipeline can’t distinguish the two.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7239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 — Safety Limits Are One-Sided, Not Symmetric Bands </a:t>
            </a:r>
            <a:r>
              <a:rPr b="1" i="1"/>
              <a:t>(report.md §1.4)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044700"/>
          <a:ext cx="8229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 enforced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Brief basis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floor only (</a:t>
                      </a:r>
                      <a:r>
                        <a:rPr>
                          <a:latin typeface="Courier"/>
                        </a:rPr>
                        <a:t>hi = +inf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≥ 205 psi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“If WHP becomes too low, the well may operate outside its recommended operating envelope.”</a:t>
                      </a:r>
                      <a:r>
                        <a:rPr/>
                        <a:t> High WHP just means the choke is closed back further — safe.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BHP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floor only (</a:t>
                      </a:r>
                      <a:r>
                        <a:rPr>
                          <a:latin typeface="Courier"/>
                        </a:rPr>
                        <a:t>hi = +inf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≥ 2830 psi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“one of the most important indicators of reservoir health and drawdown”</a:t>
                      </a:r>
                      <a:r>
                        <a:rPr/>
                        <a:t> — low BHP means excessive drawdown; high BHP means safely choked back.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ceiling only (</a:t>
                      </a:r>
                      <a:r>
                        <a:rPr>
                          <a:latin typeface="Courier"/>
                        </a:rPr>
                        <a:t>lo = -inf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 200 psi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“helps ensure stable transportation of produced fluids”</a:t>
                      </a:r>
                      <a:r>
                        <a:rPr/>
                        <a:t> — the risk is backpressure/separator overpressure on the high side, not a low reading.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46500"/>
            <a:ext cx="8229600" cy="723900"/>
          </a:xfrm>
        </p:spPr>
        <p:txBody>
          <a:bodyPr/>
          <a:lstStyle/>
          <a:p>
            <a:pPr lvl="0" indent="0" marL="0">
              <a:buNone/>
            </a:pPr>
            <a:r>
              <a:rPr i="1"/>
              <a:t>An earlier draft bracketed all three symmetrically, which could reject a high-WHP/high-BHP or low-FLP state that isn’t actually unsafe. These are further tightened inside the controller (Slide 8) before use.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7 — Monitored, Not Constrained: WHT &amp; AP </a:t>
            </a:r>
            <a:r>
              <a:rPr b="1" i="1"/>
              <a:t>(report.md §1.5)</a:t>
            </a:r>
          </a:p>
          <a:p>
            <a:pPr lvl="0"/>
            <a:r>
              <a:rPr>
                <a:latin typeface="Courier"/>
              </a:rPr>
              <a:t>data/simulator.py</a:t>
            </a:r>
            <a:r>
              <a:rPr/>
              <a:t> also simulates </a:t>
            </a:r>
            <a:r>
              <a:rPr b="1"/>
              <a:t>Wellhead Temperature (WHT)</a:t>
            </a:r>
            <a:r>
              <a:rPr/>
              <a:t> and </a:t>
            </a:r>
            <a:r>
              <a:rPr b="1"/>
              <a:t>Annulus Pressure (AP)</a:t>
            </a:r>
            <a:r>
              <a:rPr/>
              <a:t> — plotted (greyed out) in every scenario figure, but they </a:t>
            </a:r>
            <a:r>
              <a:rPr b="1"/>
              <a:t>never feed the controller</a:t>
            </a:r>
            <a:r>
              <a:rPr/>
              <a:t>.</a:t>
            </a:r>
          </a:p>
          <a:p>
            <a:pPr lvl="0"/>
            <a:r>
              <a:rPr/>
              <a:t>They exist because the brief lists them as part of “a complete production operating envelope” an operator would want visibility into — not because this challenge’s control problem is defined over them.</a:t>
            </a:r>
          </a:p>
          <a:p>
            <a:pPr lvl="0"/>
            <a:r>
              <a:rPr/>
              <a:t>WHT declines monotonically with choke opening (Joule-Thomson cooling); AP is flat, decoupled from choke position, carrying only an illustrative integrity-alarm band (1650–1950 psi) for situational awareness.</a:t>
            </a:r>
          </a:p>
          <a:p>
            <a:pPr lvl="0"/>
            <a:r>
              <a:rPr/>
              <a:t>Neither has a reference-CSV column to calibrate against, so unlike Q/WHP/FLP/BHP their curve parameters are hand-set placeholders — chosen to be qualitatively right, not fit to data.</a:t>
            </a:r>
          </a:p>
          <a:p>
            <a:pPr lvl="0" indent="0" marL="0">
              <a:buNone/>
            </a:pPr>
            <a:r>
              <a:rPr i="1"/>
              <a:t>Deliberate design line: surfaced for situational awareness — echoing Honeywell Asset Sentinel’s risk/alert layer — but a WHT/AP reading can never change which choke move the controller picks.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2 — Control Strategy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 — What This Actually Is: One-Step Receding-Horizon Search, Not Full MPC </a:t>
            </a:r>
            <a:r>
              <a:rPr b="1" i="1"/>
              <a:t>(report.md §2.1, §2.2)</a:t>
            </a:r>
          </a:p>
          <a:p>
            <a:pPr lvl="0" indent="0" marL="0">
              <a:buNone/>
            </a:pPr>
            <a:r>
              <a:rPr i="1"/>
              <a:t>An earlier draft called this “brute-force MPC.” That overstates it.</a:t>
            </a:r>
          </a:p>
          <a:p>
            <a:pPr lvl="0" indent="0" marL="0">
              <a:buNone/>
            </a:pPr>
            <a:r>
              <a:rPr/>
              <a:t>Each control interval:</a:t>
            </a:r>
          </a:p>
          <a:p>
            <a:pPr lvl="0" indent="-342900" marL="342900">
              <a:buAutoNum type="arabicPeriod"/>
            </a:pPr>
            <a:r>
              <a:rPr/>
              <a:t>Enumerate </a:t>
            </a:r>
            <a:r>
              <a:rPr b="1"/>
              <a:t>11 legal choke moves</a:t>
            </a:r>
            <a:r>
              <a:rPr/>
              <a:t> (−5% to +5% in 1% steps) for </a:t>
            </a:r>
            <a:r>
              <a:rPr b="1"/>
              <a:t>this interval only</a:t>
            </a:r>
            <a:r>
              <a:rPr/>
              <a:t> — not a search over a sequence of future moves.</a:t>
            </a:r>
          </a:p>
          <a:p>
            <a:pPr lvl="0" indent="-342900" marL="342900">
              <a:buAutoNum type="arabicPeriod"/>
            </a:pPr>
            <a:r>
              <a:rPr/>
              <a:t>For each candidate, </a:t>
            </a:r>
            <a:r>
              <a:rPr b="1"/>
              <a:t>hold that new position constant</a:t>
            </a:r>
            <a:r>
              <a:rPr/>
              <a:t> for the rest of the lookahead horizon and simulate forward — a cheap proxy for “what happens if I stop adjusting,” not a genuine multi-step trajectory optimization.</a:t>
            </a:r>
          </a:p>
          <a:p>
            <a:pPr lvl="0" indent="-342900" marL="342900">
              <a:buAutoNum type="arabicPeriod"/>
            </a:pPr>
            <a:r>
              <a:rPr/>
              <a:t>Reject any candidate predicted to breach a WHP/FLP/BHP limit anywhere in that held-constant horizon. Limits are backed off by </a:t>
            </a:r>
            <a:r>
              <a:rPr b="1"/>
              <a:t>3σ</a:t>
            </a:r>
            <a:r>
              <a:rPr/>
              <a:t> of each channel’s identified </a:t>
            </a:r>
            <a:r>
              <a:rPr>
                <a:latin typeface="Courier"/>
              </a:rPr>
              <a:t>noise_std</a:t>
            </a:r>
            <a:r>
              <a:rPr/>
              <a:t> first (standard robust-MPC constraint tightening) — noise-free predictions would otherwise ride the true limit and let real sensor noise breach it.</a:t>
            </a:r>
          </a:p>
          <a:p>
            <a:pPr lvl="0" indent="-342900" marL="342900">
              <a:buAutoNum type="arabicPeriod"/>
            </a:pPr>
            <a:r>
              <a:rPr/>
              <a:t>Command the feasible candidate whose end-of-horizon predicted oil rate is closest to target, ranked with a move-suppression penalty (Slide 14) so near-ties don’t get decided by noise; if none is feasible, fall back to the one minimizing predicted violation, same penalty applied — the controller never freezes or refuses to act.</a:t>
            </a:r>
          </a:p>
          <a:p>
            <a:pPr lvl="0"/>
            <a:r>
              <a:rPr/>
              <a:t>This </a:t>
            </a:r>
            <a:r>
              <a:rPr b="1"/>
              <a:t>is</a:t>
            </a:r>
            <a:r>
              <a:rPr/>
              <a:t> receding-horizon in the classic sense — it re-runs every interval with fresh measurements — but the per-step search itself is a one-step decision screened by a hold-constant forward simulation. Horizon is derived, not hand-tuned: </a:t>
            </a:r>
            <a:r>
              <a:rPr>
                <a:latin typeface="Courier"/>
              </a:rPr>
              <a:t>ceil(3 × max(τ) / Ts)</a:t>
            </a:r>
            <a:r>
              <a:rPr/>
              <a:t>, clipped to [3, 12] h.</a:t>
            </a:r>
          </a:p>
          <a:p>
            <a:pPr lvl="0"/>
            <a:r>
              <a:rPr b="1"/>
              <a:t>Safety here is best-effort, not formally guaranteed</a:t>
            </a:r>
            <a:r>
              <a:rPr/>
              <a:t> — no recursive feasibility check, no terminal invariant set. The 30-seed sweep (Slide 15) shows the safety-fallback branch firing on </a:t>
            </a:r>
            <a:r>
              <a:rPr b="1"/>
              <a:t>23.6%</a:t>
            </a:r>
            <a:r>
              <a:rPr/>
              <a:t> of Scenario C’s steps — precisely because that scenario runs at the edge of what the model considers feasible, with no formal guarantee behind it, only a greedy per-step search that has worked well empirically.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2319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9 — Scenario A’s Violations: A Deterministic Initial-Condition Property, Not an Extrapolation Artifact </a:t>
            </a:r>
            <a:r>
              <a:rPr b="1" i="1"/>
              <a:t>(report.md §2.3)</a:t>
            </a:r>
          </a:p>
          <a:p>
            <a:pPr lvl="0" indent="0" marL="0">
              <a:buNone/>
            </a:pPr>
            <a:r>
              <a:rPr i="1"/>
              <a:t>Two earlier drafts got this wrong: the first claimed 15% choke was “inside supported territory” (false — the CSV’s tested band is 30–65%); the second correctly retracted that but blamed the violations on generic “extrapolation uncertainty,” implying the numbers might not be real. Checking the model’s own numbers directly says otherwise.</a:t>
            </a:r>
          </a:p>
          <a:p>
            <a:pPr lvl="0" indent="0" marL="0">
              <a:buNone/>
            </a:pPr>
            <a:r>
              <a:rPr/>
              <a:t>Computing the identified FLP steady-state map at low choke (the exact function the controller predicts with):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552700"/>
          <a:ext cx="822960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FLP steady-state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vs. 200 psi ceiling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218.4 psi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exceeds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203.7 psi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exceeds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198.8 psi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clears (barely)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25%+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193.9 psi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clears with margin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83000"/>
            <a:ext cx="8229600" cy="7747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Scenario A starts at 15% choke, and </a:t>
            </a:r>
            <a:r>
              <a:rPr b="1">
                <a:latin typeface="Courier"/>
              </a:rPr>
              <a:t>Simulator.reset()</a:t>
            </a:r>
            <a:r>
              <a:rPr b="1"/>
              <a:t> initializes FLP at exactly that choke’s steady state — 203.7 psi, already over the ceiling, before the controller has made a single decision.</a:t>
            </a:r>
            <a:r>
              <a:rPr/>
              <a:t> With the ±5%/interval ramp limit, reaching even the steady-state-safe 20% choke takes one full interval, and reaching the controller’s own tightened-margin-safe ~22% takes two — a hard constraint the controller has no authority to override, plus FLP’s own τ=7h/θ=1h lag on top.</a:t>
            </a:r>
          </a:p>
          <a:p>
            <a:pPr lvl="0" indent="0" marL="0">
              <a:buNone/>
            </a:pPr>
            <a:r>
              <a:rPr i="1"/>
              <a:t>This is the identified model’s own curve, trusted exactly as identified — not an artifact of guessed, untrustworthy numbers outside the calibrated range. A better 0–30% calibration could shift the exact numbers; it would not change the qualitative outcome unless it also flipped the sign of FLP’s slope near 15%, which nothing in the physics suggests.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10 — Explainability Is a Logged Field, Not a Slide </a:t>
            </a:r>
            <a:r>
              <a:rPr b="1" i="1"/>
              <a:t>(report.md §2.4)</a:t>
            </a:r>
          </a:p>
          <a:p>
            <a:pPr lvl="0" indent="0" marL="0">
              <a:buNone/>
            </a:pPr>
            <a:r>
              <a:rPr/>
              <a:t>Directly answers pain point #5: every decision produces a real, human-readable rationale — a field in the output CSV, in both branches.</a:t>
            </a:r>
          </a:p>
          <a:p>
            <a:pPr lvl="0" indent="0" marL="1270000">
              <a:buNone/>
            </a:pPr>
            <a:r>
              <a:rPr sz="2000" i="1"/>
              <a:t>“Moved choke to 34.0% because it keeps WHP/FLP/BHP within safe limits over the next 12h and brings predicted oil rate to 99.4 bbl/hr, closest to the 100.0 bbl/hr target among 11 feasible options.”</a:t>
            </a:r>
            <a:r>
              <a:rPr sz="2000"/>
              <a:t> — normal branch, actual logged decision</a:t>
            </a:r>
          </a:p>
          <a:p>
            <a:pPr lvl="0" indent="0" marL="1270000">
              <a:buNone/>
            </a:pPr>
            <a:r>
              <a:rPr sz="2000" i="1"/>
              <a:t>“No choke move keeps all limits satisfied over the lookahead; moved to 62.2% because it minimizes the predicted constraint violation (6.8 psi-steps over horizon).”</a:t>
            </a:r>
            <a:r>
              <a:rPr sz="2000"/>
              <a:t> — safety-fallback branch, same field, same guarantee</a:t>
            </a:r>
          </a:p>
          <a:p>
            <a:pPr lvl="0" indent="0" marL="0">
              <a:buNone/>
            </a:pPr>
            <a:r>
              <a:rPr i="1"/>
              <a:t>Commanded choke values are rounded to 0.1% before being used for prediction, selection, and the logged string — the rationale can never silently diverge from what was actually applied.</a:t>
            </a:r>
          </a:p>
          <a:p>
            <a:pPr lvl="0" indent="0" marL="0">
              <a:buNone/>
            </a:pPr>
            <a:r>
              <a:rPr b="1"/>
              <a:t>Honeywell echo:</a:t>
            </a:r>
            <a:r>
              <a:rPr/>
              <a:t> dashboard/output layering mirrors Uniformance’s PHD (historian) / KPI (target-tracking) / Asset Sentinel (risk/alert) structure — a focused proof-of-concept of the same wellhead-to-control-room optimization problem UPPS addresses at scale. </a:t>
            </a:r>
            <a:r>
              <a:rPr i="1"/>
              <a:t>(echoes, not replicates.)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3 —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Single-run numbers below use the default seed; the 30-seed sweep (Slide 15) is the number to trust over any one run.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11 — Scenario A: Startup to Target </a:t>
            </a:r>
            <a:r>
              <a:rPr b="1" i="1"/>
              <a:t>(report.md §3.1)</a:t>
            </a:r>
          </a:p>
          <a:p>
            <a:pPr lvl="0"/>
            <a:r>
              <a:rPr/>
              <a:t>15% choke → 100 bbl/hr target, 80-hour run.</a:t>
            </a:r>
          </a:p>
          <a:p>
            <a:pPr lvl="0"/>
            <a:r>
              <a:rPr b="1"/>
              <a:t>Tracking:</a:t>
            </a:r>
            <a:r>
              <a:rPr/>
              <a:t> trailing 10-hour mean (hours 70–79) of </a:t>
            </a:r>
            <a:r>
              <a:rPr b="1"/>
              <a:t>99.26 bbl/hr</a:t>
            </a:r>
            <a:r>
              <a:rPr/>
              <a:t> at a steady 34.0% choke.</a:t>
            </a:r>
          </a:p>
          <a:p>
            <a:pPr lvl="0"/>
            <a:r>
              <a:rPr b="1"/>
              <a:t>Safety, single seed:</a:t>
            </a:r>
            <a:r>
              <a:rPr/>
              <a:t> 4/80. </a:t>
            </a:r>
            <a:r>
              <a:rPr b="1"/>
              <a:t>30-seed sweep:</a:t>
            </a:r>
            <a:r>
              <a:rPr/>
              <a:t> every seed shows at least one violation (</a:t>
            </a:r>
            <a:r>
              <a:rPr b="1"/>
              <a:t>30/30</a:t>
            </a:r>
            <a:r>
              <a:rPr/>
              <a:t>), mean </a:t>
            </a:r>
            <a:r>
              <a:rPr b="1"/>
              <a:t>3.97/80</a:t>
            </a:r>
            <a:r>
              <a:rPr/>
              <a:t>, max </a:t>
            </a:r>
            <a:r>
              <a:rPr b="1"/>
              <a:t>5/80</a:t>
            </a:r>
            <a:r>
              <a:rPr/>
              <a:t>.</a:t>
            </a:r>
          </a:p>
          <a:p>
            <a:pPr lvl="0"/>
            <a:r>
              <a:rPr b="1"/>
              <a:t>Time to enter the safe envelope</a:t>
            </a:r>
            <a:r>
              <a:rPr/>
              <a:t> (new metric, Slide 9’s mechanism made measurable): single-seed </a:t>
            </a:r>
            <a:r>
              <a:rPr b="1"/>
              <a:t>4h</a:t>
            </a:r>
            <a:r>
              <a:rPr/>
              <a:t>; 30-seed sweep </a:t>
            </a:r>
            <a:r>
              <a:rPr b="1"/>
              <a:t>mean 4.0h, range 3–5h</a:t>
            </a:r>
            <a:r>
              <a:rPr/>
              <a:t> — tight enough to support “deterministic,” not “noisy extrapolation.”</a:t>
            </a:r>
          </a:p>
          <a:p>
            <a:pPr lvl="0"/>
            <a:r>
              <a:rPr b="1"/>
              <a:t>Ramp-rate:</a:t>
            </a:r>
            <a:r>
              <a:rPr/>
              <a:t> 0/80 violations in every seed — the ramp limit is the </a:t>
            </a:r>
            <a:r>
              <a:rPr i="1"/>
              <a:t>reason</a:t>
            </a:r>
            <a:r>
              <a:rPr/>
              <a:t> the envelope takes several hours to reach, not itself violated.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12 — Scenario B: Target Tracking </a:t>
            </a:r>
            <a:r>
              <a:rPr b="1" i="1"/>
              <a:t>(report.md §3.2)</a:t>
            </a:r>
          </a:p>
          <a:p>
            <a:pPr lvl="0"/>
            <a:r>
              <a:rPr/>
              <a:t>34.2% choke start, target steps </a:t>
            </a:r>
            <a:r>
              <a:rPr b="1"/>
              <a:t>100 → 150 bbl/hr at t = 60h</a:t>
            </a:r>
            <a:r>
              <a:rPr/>
              <a:t>, 140-hour run.</a:t>
            </a:r>
          </a:p>
          <a:p>
            <a:pPr lvl="0"/>
            <a:r>
              <a:rPr b="1"/>
              <a:t>Tracking:</a:t>
            </a:r>
            <a:r>
              <a:rPr/>
              <a:t> trailing 10-hour mean </a:t>
            </a:r>
            <a:r>
              <a:rPr b="1"/>
              <a:t>100.32 bbl/hr</a:t>
            </a:r>
            <a:r>
              <a:rPr/>
              <a:t> at 34.2% choke before the step (hours 50–59); </a:t>
            </a:r>
            <a:r>
              <a:rPr b="1"/>
              <a:t>150.57 bbl/hr</a:t>
            </a:r>
            <a:r>
              <a:rPr/>
              <a:t> at 61.2% choke after settling (hours 130–139).</a:t>
            </a:r>
          </a:p>
          <a:p>
            <a:pPr lvl="0"/>
            <a:r>
              <a:rPr b="1"/>
              <a:t>Safety:</a:t>
            </a:r>
            <a:r>
              <a:rPr/>
              <a:t> 0/140 in the representative run </a:t>
            </a:r>
            <a:r>
              <a:rPr b="1"/>
              <a:t>and</a:t>
            </a:r>
            <a:r>
              <a:rPr/>
              <a:t> 0/140 in </a:t>
            </a:r>
            <a:r>
              <a:rPr b="1"/>
              <a:t>all 30 seeds</a:t>
            </a:r>
            <a:r>
              <a:rPr/>
              <a:t> — the only scenario with a perfectly clean sweep, because it never leaves the calibration’s supported 30–65% band.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13 — Scenario C: Infeasible Target </a:t>
            </a:r>
            <a:r>
              <a:rPr b="1" i="1"/>
              <a:t>(report.md §3.3)</a:t>
            </a:r>
          </a:p>
          <a:p>
            <a:pPr lvl="0"/>
            <a:r>
              <a:rPr/>
              <a:t>34.2% choke start, </a:t>
            </a:r>
            <a:r>
              <a:rPr b="1"/>
              <a:t>400 bbl/hr requested</a:t>
            </a:r>
            <a:r>
              <a:rPr/>
              <a:t> — deliberately beyond what’s safely achievable.</a:t>
            </a:r>
          </a:p>
          <a:p>
            <a:pPr lvl="0"/>
            <a:r>
              <a:rPr b="1"/>
              <a:t>Behavior:</a:t>
            </a:r>
            <a:r>
              <a:rPr/>
              <a:t> does not chase the target into a violation. Trailing 10-hour mean </a:t>
            </a:r>
            <a:r>
              <a:rPr b="1"/>
              <a:t>162.76 bbl/hr</a:t>
            </a:r>
            <a:r>
              <a:rPr/>
              <a:t> at 69.4% choke — the maximum rate the tightened envelope allows, not 400.</a:t>
            </a:r>
          </a:p>
          <a:p>
            <a:pPr lvl="0"/>
            <a:r>
              <a:rPr b="1"/>
              <a:t>Safety:</a:t>
            </a:r>
            <a:r>
              <a:rPr/>
              <a:t> 0/100 single-seed, </a:t>
            </a:r>
            <a:r>
              <a:rPr b="1"/>
              <a:t>and 0/100 in all 30 seeds</a:t>
            </a:r>
            <a:r>
              <a:rPr/>
              <a:t> — fully clean.</a:t>
            </a:r>
          </a:p>
          <a:p>
            <a:pPr lvl="0"/>
            <a:r>
              <a:rPr b="1"/>
              <a:t>Safety-fallback frequency:</a:t>
            </a:r>
            <a:r>
              <a:rPr/>
              <a:t> </a:t>
            </a:r>
            <a:r>
              <a:rPr b="1"/>
              <a:t>23.6%</a:t>
            </a:r>
            <a:r>
              <a:rPr/>
              <a:t> of steps — far higher than A or B, because this scenario deliberately runs the choke near the edge of the tightened feasible envelope for its entire duration. Frequent fallback here is expected behavior, not a red flag: 0 actual violations means the fallback branch is doing its job.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5748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14 — Actuator Activity: Fixing the Chattering </a:t>
            </a:r>
            <a:r>
              <a:rPr b="1" i="1"/>
              <a:t>(report.md §3.4)</a:t>
            </a:r>
          </a:p>
          <a:p>
            <a:pPr lvl="0" indent="0" marL="0">
              <a:buNone/>
            </a:pPr>
            <a:r>
              <a:rPr i="1"/>
              <a:t>The controller originally picked the feasible candidate purely by predicted target error, with move size only a last-resort tie-break. Near target, many candidates’ errors differ by less than measurement noise — the “closest” one was effectively a coin flip, so the valve chattered chasing error it can’t actually predict.</a:t>
            </a:r>
          </a:p>
          <a:p>
            <a:pPr lvl="0" indent="0" marL="0">
              <a:buNone/>
            </a:pPr>
            <a:r>
              <a:rPr b="1"/>
              <a:t>Fix:</a:t>
            </a:r>
            <a:r>
              <a:rPr/>
              <a:t> move-suppression cost on both branches — </a:t>
            </a:r>
            <a:r>
              <a:rPr>
                <a:latin typeface="Courier"/>
              </a:rPr>
              <a:t>cost = q_err + λ·|Δu|</a:t>
            </a:r>
            <a:r>
              <a:rPr/>
              <a:t> (feasible) / </a:t>
            </a:r>
            <a:r>
              <a:rPr>
                <a:latin typeface="Courier"/>
              </a:rPr>
              <a:t>cost = violation + λ·|Δu|</a:t>
            </a:r>
            <a:r>
              <a:rPr/>
              <a:t> (fallback), </a:t>
            </a:r>
            <a:r>
              <a:rPr>
                <a:latin typeface="Courier"/>
              </a:rPr>
              <a:t>λ = 1.0</a:t>
            </a:r>
            <a:r>
              <a:rPr/>
              <a:t> bbl/hr of predicted improvement required per %-point moved.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895600"/>
          <a:ext cx="822960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valve travel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/ 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16.0 %-pts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/ 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29.0 %-pts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53 / 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129.0 %-pts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25900"/>
            <a:ext cx="8229600" cy="431800"/>
          </a:xfrm>
        </p:spPr>
        <p:txBody>
          <a:bodyPr/>
          <a:lstStyle/>
          <a:p>
            <a:pPr lvl="0" indent="0" marL="0">
              <a:buNone/>
            </a:pPr>
            <a:r>
              <a:rPr i="1"/>
              <a:t>Honest result, not fully positive: the fix works as intended for A and B — 5 and 7 moves total, vs. constant hunting beforehand. </a:t>
            </a:r>
            <a:r>
              <a:rPr b="1" i="1"/>
              <a:t>Scenario C is only partially improved</a:t>
            </a:r>
            <a:r>
              <a:rPr i="1"/>
              <a:t>: travel dropped 16% (154→129 %-pts) but move count is essentially unchanged (52→53). Root cause: C rides the tightened WHP floor with real measurement noise (σ≈1.2 psi) that flips </a:t>
            </a:r>
            <a:r>
              <a:rPr b="1" i="1"/>
              <a:t>which candidates are feasible at all</a:t>
            </a:r>
            <a:r>
              <a:rPr i="1"/>
              <a:t>, step to step — a ranking fix within the feasible set can’t fix the feasible set itself changing.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7239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15 — Seed-Sweep Distribution: 30 Seeds per Scenario </a:t>
            </a:r>
            <a:r>
              <a:rPr b="1" i="1"/>
              <a:t>(report.md §3.5)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044700"/>
          <a:ext cx="8229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651000"/>
                <a:gridCol w="1651000"/>
                <a:gridCol w="1651000"/>
                <a:gridCol w="1651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Seeds with ≥1 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safety-fallback rate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— Startup to 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3.97 / 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/ 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8.58%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 — Target Tracking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 / 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 / 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 — Infeasible 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 / 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 / 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23.57%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46500"/>
            <a:ext cx="8229600" cy="723900"/>
          </a:xfrm>
        </p:spPr>
        <p:txBody>
          <a:bodyPr/>
          <a:lstStyle/>
          <a:p>
            <a:pPr lvl="0" indent="0" marL="0">
              <a:buNone/>
            </a:pPr>
            <a:r>
              <a:rPr i="1"/>
              <a:t>Full per-seed results: </a:t>
            </a:r>
            <a:r>
              <a:rPr i="1">
                <a:latin typeface="Courier"/>
              </a:rPr>
              <a:t>outputs/seed_sweep_results.csv</a:t>
            </a:r>
            <a:r>
              <a:rPr i="1"/>
              <a:t>. A single seed’s “0 violations” is a point sample from a noisy system — this distribution, not any one run, is what actually supports a safety claim.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16 — Baseline Comparison: MPC vs. Fixed-Optimal vs. Fixed-Operator-Proxy vs. PI </a:t>
            </a:r>
            <a:r>
              <a:rPr b="1" i="1"/>
              <a:t>(report.md §3.6)</a:t>
            </a:r>
          </a:p>
        </p:txBody>
      </p:sp>
      <p:pic>
        <p:nvPicPr>
          <p:cNvPr descr="../outputs/baseline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81100"/>
            <a:ext cx="51054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Baseline comparison: constraint violations (log scale) and total barrels produced, per approach, per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Fixed-optimal</a:t>
            </a:r>
            <a:r>
              <a:rPr/>
              <a:t> — the choke the identified model says holds the target at steady state, walked back until its own steady-state predictions clear the tightened envelope, then held. Model-informed, envelope-aware — what a good engineer </a:t>
            </a:r>
            <a:r>
              <a:rPr i="1"/>
              <a:t>with</a:t>
            </a:r>
            <a:r>
              <a:rPr/>
              <a:t> this pipeline would set.</a:t>
            </a:r>
          </a:p>
          <a:p>
            <a:pPr lvl="0"/>
            <a:r>
              <a:rPr b="1"/>
              <a:t>Fixed-operator-proxy</a:t>
            </a:r>
            <a:r>
              <a:rPr/>
              <a:t> (new) — </a:t>
            </a:r>
            <a:r>
              <a:rPr b="1"/>
              <a:t>no model, no envelope knowledge</a:t>
            </a:r>
            <a:r>
              <a:rPr/>
              <a:t>: a naive straight-line read of choke-vs-oil-rate off the raw reference CSV (the only data a real operator without this pipeline would have), backed off 15 points. Models pain point #1 directly.</a:t>
            </a:r>
          </a:p>
          <a:p>
            <a:pPr lvl="0"/>
            <a:r>
              <a:rPr b="1"/>
              <a:t>PI</a:t>
            </a:r>
            <a:r>
              <a:rPr/>
              <a:t> — velocity-form PI on oil rate, IMC-tuned from the identified model, blind to WHP/FLP/BHP by design.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806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Safety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barrels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MPC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4/80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7,590.4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Fixed-optimal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3/80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7,657.6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Fixed-operator-proxy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66/80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4,852.4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3/80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7,652.1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MPC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0/140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17,676.4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Fixed-optimal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0/140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17,642.0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Fixed-operator-proxy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23/140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13,824.5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0/140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17,591.0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MPC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0/100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15,806.2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Fixed-optimal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0/100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15,769.0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Fixed-operator-proxy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85/100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18,778.3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85/100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18,778.3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27500"/>
            <a:ext cx="8229600" cy="330200"/>
          </a:xfrm>
        </p:spPr>
        <p:txBody>
          <a:bodyPr/>
          <a:lstStyle/>
          <a:p>
            <a:pPr lvl="0" indent="0" marL="0">
              <a:buNone/>
            </a:pPr>
            <a:r>
              <a:rPr i="1"/>
              <a:t>The honest headline — not the one Scenario D (Slide 17) was built to find: </a:t>
            </a:r>
            <a:r>
              <a:rPr b="1" i="1"/>
              <a:t>MPC ties Fixed-optimal in every scenario</a:t>
            </a:r>
            <a:r>
              <a:rPr i="1"/>
              <a:t> (no cross-channel coupling for live re-planning to exploit here). The real, consistent win is </a:t>
            </a:r>
            <a:r>
              <a:rPr b="1" i="1"/>
              <a:t>envelope-awareness itself vs. the operator-proxy</a:t>
            </a:r>
            <a:r>
              <a:rPr i="1"/>
              <a:t>, in all four scenarios — closing the choke 15% below naive belief looks conservative but actually pushes FLP the </a:t>
            </a:r>
            <a:r>
              <a:rPr/>
              <a:t>wrong* direction, past its ~19% threshold (Slide 9), which a model-blind operator has no way to know.*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5748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17 — Scenario D: Disturbance Rejection </a:t>
            </a:r>
            <a:r>
              <a:rPr b="1" i="1"/>
              <a:t>(report.md §3.6)</a:t>
            </a:r>
          </a:p>
          <a:p>
            <a:pPr lvl="0" indent="0" marL="0">
              <a:buNone/>
            </a:pPr>
            <a:r>
              <a:rPr i="1"/>
              <a:t>Built specifically to find MPC’s edge: does live re-planning beat a static setpoint once the plant genuinely drifts underneath both? A deliberate, explicit relaxation of the brief’s “no changing reservoir properties” simplification.</a:t>
            </a:r>
          </a:p>
          <a:p>
            <a:pPr lvl="0"/>
            <a:r>
              <a:rPr/>
              <a:t>BHP’s identified steady-state offset drifts </a:t>
            </a:r>
            <a:r>
              <a:rPr b="1"/>
              <a:t>−0.5 psi/h for 200h</a:t>
            </a:r>
            <a:r>
              <a:rPr/>
              <a:t> (reservoir decline) at a constant 100 bbl/hr target. The identified model is fit once, before the disturbance starts, and never updated.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895600"/>
          <a:ext cx="822960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Safety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barrels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Time-to-first-violation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MPC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0/200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20,040.9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Fixed-optimal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0/200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20,048.3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Fixed-operator-proxy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121/200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12,594.2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21h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25900"/>
            <a:ext cx="8229600" cy="4318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Told straight, not spun:</a:t>
            </a:r>
            <a:r>
              <a:rPr/>
              <a:t> MPC and Fixed-optimal </a:t>
            </a:r>
            <a:r>
              <a:rPr b="1"/>
              <a:t>tie</a:t>
            </a:r>
            <a:r>
              <a:rPr/>
              <a:t> — 0 violations each. In this model, BHP and Q are independent, uncoupled FOPDT channels, so a declining reservoir never moves Q off target and never drifts BHP close enough to its floor (ends ~170 psi above it after 200h) to matter. MPC’s re-planning had nothing to correct that a static, envelope-aware setpoint didn’t already handle. Fixed-operator-proxy still fails here — but for the </a:t>
            </a:r>
            <a:r>
              <a:rPr i="1"/>
              <a:t>same static-FLP-threshold reason as Scenario A/Slide 9</a:t>
            </a:r>
            <a:r>
              <a:rPr/>
              <a:t>, not because it missed the disturbance: violations start at hour 21 (as soon as the ramp-limited approach reaches its 18.7% setpoint) and continue at a roughly steady rate for all 200h.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18 — Lessons Learned </a:t>
            </a:r>
            <a:r>
              <a:rPr b="1" i="1"/>
              <a:t>(report.md §3.7)</a:t>
            </a:r>
          </a:p>
          <a:p>
            <a:pPr lvl="0"/>
            <a:r>
              <a:rPr b="1"/>
              <a:t>“Extrapolation” was a hedge, not the actual explanation.</a:t>
            </a:r>
            <a:r>
              <a:rPr/>
              <a:t> Checking the model’s own FLP steady-state curve (Slide 9) found a concrete, checkable fact — it exceeds 200 psi below ~19% choke — not a hedge about what an uncalibrated region </a:t>
            </a:r>
            <a:r>
              <a:rPr i="1"/>
              <a:t>might</a:t>
            </a:r>
            <a:r>
              <a:rPr/>
              <a:t> do.</a:t>
            </a:r>
          </a:p>
          <a:p>
            <a:pPr lvl="0"/>
            <a:r>
              <a:rPr b="1"/>
              <a:t>A correctly-specified model still shows real identification error, and two separate root causes were both worth chasing down, not just naming one.</a:t>
            </a:r>
            <a:r>
              <a:rPr/>
              <a:t> Dwell time (Slide 4, Fix 1) explained three of four channels and correctly </a:t>
            </a:r>
            <a:r>
              <a:rPr i="1"/>
              <a:t>ruled itself out</a:t>
            </a:r>
            <a:r>
              <a:rPr/>
              <a:t> for Q; a one-sample lag (Fix 2) was Q’s actual answer, found by refusing to let Fix 1’s partial success explain away the residual it didn’t touch.</a:t>
            </a:r>
          </a:p>
          <a:p>
            <a:pPr lvl="0"/>
            <a:r>
              <a:rPr b="1"/>
              <a:t>Name the controller accurately.</a:t>
            </a:r>
            <a:r>
              <a:rPr/>
              <a:t> Calling this “brute-force MPC” implied guarantees — recursive feasibility, trajectory optimality — it doesn’t have. It’s a one-step receding-horizon search with hold-constant prediction: empirically strong on safety, but not formally proven.</a:t>
            </a:r>
          </a:p>
          <a:p>
            <a:pPr lvl="0"/>
            <a:r>
              <a:rPr b="1"/>
              <a:t>Report distributions, not single runs.</a:t>
            </a:r>
            <a:r>
              <a:rPr/>
              <a:t> A single seed’s “0 violations” is a point sample. The 30-seed sweep is what actually supports a safety claim or a tracking claim.</a:t>
            </a:r>
          </a:p>
          <a:p>
            <a:pPr lvl="0"/>
            <a:r>
              <a:rPr b="1"/>
              <a:t>A correction layer earns its place by generalizing, channel by channel.</a:t>
            </a:r>
            <a:r>
              <a:rPr/>
              <a:t> Post-fix, it helps three of four channels (Q, FLP, BHP) and is skipped only for WHP — the verdict changed entirely from an earlier draft without anyone hand-editing which channels are marked used.</a:t>
            </a:r>
          </a:p>
          <a:p>
            <a:pPr lvl="0"/>
            <a:r>
              <a:rPr b="1"/>
              <a:t>Chattering has more than one cause, and a single fix doesn’t necessarily cure both.</a:t>
            </a:r>
            <a:r>
              <a:rPr/>
              <a:t> Move-suppression cost fully fixed A/B (noise-tie chattering) but only partially fixed C, because C’s chattering comes from the </a:t>
            </a:r>
            <a:r>
              <a:rPr i="1"/>
              <a:t>feasible set itself</a:t>
            </a:r>
            <a:r>
              <a:rPr/>
              <a:t> flipping under measurement noise — a different mechanism the same fix can’t fully reach.</a:t>
            </a:r>
          </a:p>
          <a:p>
            <a:pPr lvl="0"/>
            <a:r>
              <a:rPr b="1"/>
              <a:t>The real win is envelope-awareness, not live re-planning — say so even though it complicates the headline.</a:t>
            </a:r>
            <a:r>
              <a:rPr/>
              <a:t> Scenario D was built to find MPC’s edge over a static setpoint and didn’t find one (they tie). The consistent, honest win is against the operator-proxy baseline, in all four scenarios — a less dramatic but more accurate story than the one the experiment was designed to produce.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2026-07-26T09:54:07Z</dcterms:created>
  <dcterms:modified xsi:type="dcterms:W3CDTF">2026-07-26T09:54:07Z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